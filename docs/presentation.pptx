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Сервис отвечает на два вопроса: где горит прямо сейчас и сколько леса сгорело. Всё построено на бесплатных публичных источниках.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Два этапа независимы по данным, но связаны общим идентификатором пожара.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Продукт Landsat для активного огня покрывает только США и Канаду — по России данных нет, он исключён из этапа 1.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Ключевая идея архитектуры: отсутствие данных никогда не равно отрицательному ответу.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Это не иллюстрация, а скриншот работающей карты на живых данных. Сгущение на севере — Эвенкия.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Расхождения с ТЗ мы фиксируем, а не замалчиваем: они меняют планирование.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Что это именно газовые факелы, мы не доказали: доказано, что они неподвижны и стабильны по мощности.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Правило «облачность не более 20 процентов по сцене» из исходного ТЗ в сибирский сезон не оставило бы ни одной пары.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Мы не стали подкручивать пороги, чтобы число стало красивым. Отрицательный результат опубликован как есть.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Пороги классификации не трогали. Изменили процедуру отбора сцен, а не критерий оценки.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Панель различает время последнего успешного опроса и время последней детекции — это разные величины.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Отрицательный результат здесь — поставка, а не неудача.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Формат закрыли раньше моделей намеренно: риск нулевого балла снимается один раз и навсегда.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Порог по площади гари догнали, но не обошли — в записи это зафиксировано прямо, без сглаживания.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Список того, что не доказано, — часть результата, поэтому слайд не убран.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Кеш лежит в репозитории в сжатом колоночном формате — карту можно поднять на свежем клоне без ключей.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hyperlink" Target="https://github.com/voloshko/fires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hyperlink" Target="https://github.com/voloshko/fires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215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863840" y="-1463040"/>
            <a:ext cx="6583680" cy="6583680"/>
          </a:xfrm>
          <a:prstGeom prst="ellipse">
            <a:avLst/>
          </a:prstGeom>
          <a:solidFill>
            <a:srgbClr val="241A15"/>
          </a:solidFill>
          <a:ln w="12700">
            <a:solidFill>
              <a:srgbClr val="241A15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326880" y="3108960"/>
            <a:ext cx="4206240" cy="4206240"/>
          </a:xfrm>
          <a:prstGeom prst="ellipse">
            <a:avLst/>
          </a:prstGeom>
          <a:solidFill>
            <a:srgbClr val="1D1A20"/>
          </a:solidFill>
          <a:ln w="12700">
            <a:solidFill>
              <a:srgbClr val="1D1A20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85800" y="82296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E062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КРАСНОЯРСКИЙ КРАЙ И СИБИРЬ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685800" y="1371600"/>
            <a:ext cx="87782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5200"/>
              </a:lnSpc>
              <a:buNone/>
            </a:pPr>
            <a:r>
              <a:rPr lang="en-US" sz="4400" b="1" dirty="0">
                <a:solidFill>
                  <a:srgbClr val="E6E9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Оперативный мониторинг</a:t>
            </a:r>
            <a:endParaRPr lang="en-US" sz="4400" dirty="0"/>
          </a:p>
          <a:p>
            <a:pPr indent="0" marL="0">
              <a:lnSpc>
                <a:spcPts val="5200"/>
              </a:lnSpc>
              <a:buNone/>
            </a:pPr>
            <a:r>
              <a:rPr lang="en-US" sz="4400" b="1" dirty="0">
                <a:solidFill>
                  <a:srgbClr val="E6E9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лесных пожаров</a:t>
            </a:r>
            <a:endParaRPr lang="en-US" sz="4400" dirty="0"/>
          </a:p>
        </p:txBody>
      </p:sp>
      <p:sp>
        <p:nvSpPr>
          <p:cNvPr id="6" name="Text 4"/>
          <p:cNvSpPr txBox="1"/>
          <p:nvPr/>
        </p:nvSpPr>
        <p:spPr>
          <a:xfrm>
            <a:off x="685800" y="3520440"/>
            <a:ext cx="7863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400"/>
              </a:lnSpc>
              <a:buNone/>
            </a:pPr>
            <a:r>
              <a:rPr lang="en-US" sz="1600" dirty="0">
                <a:solidFill>
                  <a:srgbClr val="BFC7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Поиск очагов по тепловым каналам и картирование гарей по снимкам Sentinel-2. Только публичные данные — без закрытых ведомственных систем.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685800" y="4709160"/>
            <a:ext cx="3931920" cy="566928"/>
          </a:xfrm>
          <a:prstGeom prst="roundRect">
            <a:avLst>
              <a:gd name="adj" fmla="val 12903"/>
            </a:avLst>
          </a:prstGeom>
          <a:solidFill>
            <a:srgbClr val="F0A132"/>
          </a:solidFill>
          <a:ln w="12700">
            <a:solidFill>
              <a:srgbClr val="F0A132"/>
            </a:solidFill>
            <a:prstDash val="solid"/>
          </a:ln>
        </p:spPr>
      </p:sp>
      <p:sp>
        <p:nvSpPr>
          <p:cNvPr id="8" name="Text 6">
            <a:hlinkClick r:id="rId1" tooltip=""/>
          </p:cNvPr>
          <p:cNvSpPr txBox="1"/>
          <p:nvPr/>
        </p:nvSpPr>
        <p:spPr>
          <a:xfrm>
            <a:off x="685800" y="4709160"/>
            <a:ext cx="3931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u="sng" dirty="0">
                <a:solidFill>
                  <a:srgbClr val="1215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github.com/voloshko/fires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4800600" y="4709160"/>
            <a:ext cx="3657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D97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открытый исходный код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685800" y="6291072"/>
            <a:ext cx="10789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A71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Данные на 18 сентября 2026 · 60 суток наблюдений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215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457200"/>
            <a:ext cx="107899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E6E9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Две задачи, одна цепочка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685800" y="1600200"/>
            <a:ext cx="5257800" cy="2514600"/>
          </a:xfrm>
          <a:prstGeom prst="roundRect">
            <a:avLst>
              <a:gd name="adj" fmla="val 3273"/>
            </a:avLst>
          </a:prstGeom>
          <a:solidFill>
            <a:srgbClr val="1A1F27"/>
          </a:solidFill>
          <a:ln w="12700">
            <a:solidFill>
              <a:srgbClr val="2C333D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51560" y="1920240"/>
            <a:ext cx="310896" cy="310896"/>
          </a:xfrm>
          <a:prstGeom prst="ellipse">
            <a:avLst/>
          </a:prstGeom>
          <a:solidFill>
            <a:srgbClr val="E0622B"/>
          </a:solidFill>
          <a:ln w="12700">
            <a:solidFill>
              <a:srgbClr val="E0622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508760" y="1920240"/>
            <a:ext cx="4069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062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ЭТАП 1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1051560" y="2377440"/>
            <a:ext cx="4526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E6E9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Где горит</a:t>
            </a:r>
            <a:endParaRPr lang="en-US" sz="2200" dirty="0"/>
          </a:p>
        </p:txBody>
      </p:sp>
      <p:sp>
        <p:nvSpPr>
          <p:cNvPr id="7" name="Text 5"/>
          <p:cNvSpPr txBox="1"/>
          <p:nvPr/>
        </p:nvSpPr>
        <p:spPr>
          <a:xfrm>
            <a:off x="1051560" y="2880360"/>
            <a:ext cx="4526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400" dirty="0">
                <a:solidFill>
                  <a:srgbClr val="BFC7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Тепловые точки со спутников, очищенные от ложных срабатываний: газовых факелов, сельхозпалов, промышленных источников.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6217920" y="1600200"/>
            <a:ext cx="5257800" cy="2514600"/>
          </a:xfrm>
          <a:prstGeom prst="roundRect">
            <a:avLst>
              <a:gd name="adj" fmla="val 3273"/>
            </a:avLst>
          </a:prstGeom>
          <a:solidFill>
            <a:srgbClr val="1A1F27"/>
          </a:solidFill>
          <a:ln w="12700">
            <a:solidFill>
              <a:srgbClr val="2C333D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583680" y="1920240"/>
            <a:ext cx="310896" cy="310896"/>
          </a:xfrm>
          <a:prstGeom prst="ellipse">
            <a:avLst/>
          </a:prstGeom>
          <a:solidFill>
            <a:srgbClr val="5BC8AF"/>
          </a:solidFill>
          <a:ln w="12700">
            <a:solidFill>
              <a:srgbClr val="5BC8AF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040880" y="1920240"/>
            <a:ext cx="4069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BC8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ЭТАП 2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6583680" y="2377440"/>
            <a:ext cx="4526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E6E9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Сколько сгорело</a:t>
            </a:r>
            <a:endParaRPr lang="en-US" sz="2200" dirty="0"/>
          </a:p>
        </p:txBody>
      </p:sp>
      <p:sp>
        <p:nvSpPr>
          <p:cNvPr id="12" name="Text 10"/>
          <p:cNvSpPr txBox="1"/>
          <p:nvPr/>
        </p:nvSpPr>
        <p:spPr>
          <a:xfrm>
            <a:off x="6583680" y="2880360"/>
            <a:ext cx="4526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400" dirty="0">
                <a:solidFill>
                  <a:srgbClr val="BFC7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Снимки до и после пожара, индекс гари dNBR, площадь в гектарах с разбивкой по степени поражения леса.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685800" y="4434840"/>
            <a:ext cx="10789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300"/>
              </a:lnSpc>
              <a:buNone/>
            </a:pPr>
            <a:r>
              <a:rPr lang="en-US" sz="1500" dirty="0">
                <a:solidFill>
                  <a:srgbClr val="8D97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Результат — веб-карта и REST API: очаг можно найти, открыть его карточку и получить площадь гари с указанием, насколько этому числу можно верить.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685800" y="6291072"/>
            <a:ext cx="10789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A71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Техническое задание · docs/TZ.md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215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457200"/>
            <a:ext cx="107899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E6E9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Всё на публичных данных</a:t>
            </a:r>
            <a:endParaRPr lang="en-US" sz="36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554480"/>
          <a:ext cx="10789920" cy="914400"/>
        </p:xfrm>
        <a:graphic>
          <a:graphicData uri="http://schemas.openxmlformats.org/drawingml/2006/table">
            <a:tbl>
              <a:tblPr/>
              <a:tblGrid>
                <a:gridCol w="3657600"/>
                <a:gridCol w="4389120"/>
                <a:gridCol w="2743200"/>
              </a:tblGrid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8D97A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Источник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91440" marB="91440" anchor="ctr">
                    <a:lnL w="12700" cap="flat" cmpd="sng" algn="ctr">
                      <a:solidFill>
                        <a:srgbClr val="2C33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C33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C33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C33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F2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8D97A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Что даёт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91440" marB="91440" anchor="ctr">
                    <a:lnL w="12700" cap="flat" cmpd="sng" algn="ctr">
                      <a:solidFill>
                        <a:srgbClr val="2C33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C33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C33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C33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F2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8D97A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Доступ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91440" marB="91440" anchor="ctr">
                    <a:lnL w="12700" cap="flat" cmpd="sng" algn="ctr">
                      <a:solidFill>
                        <a:srgbClr val="2C33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C33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C33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C33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F27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E6E9E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NASA FIRMS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91440" marB="91440" anchor="ctr">
                    <a:lnL w="12700" cap="flat" cmpd="sng" algn="ctr">
                      <a:solidFill>
                        <a:srgbClr val="2C33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C33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C33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C33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F2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E6E9E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очаги: MODIS и три аппарата VIIRS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91440" marB="91440" anchor="ctr">
                    <a:lnL w="12700" cap="flat" cmpd="sng" algn="ctr">
                      <a:solidFill>
                        <a:srgbClr val="2C33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C33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C33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C33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F2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0A1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бесплатный ключ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91440" marB="91440" anchor="ctr">
                    <a:lnL w="12700" cap="flat" cmpd="sng" algn="ctr">
                      <a:solidFill>
                        <a:srgbClr val="2C33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C33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C33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C33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F27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E6E9E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Sentinel-2 L2A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91440" marB="91440" anchor="ctr">
                    <a:lnL w="12700" cap="flat" cmpd="sng" algn="ctr">
                      <a:solidFill>
                        <a:srgbClr val="2C33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C33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C33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C33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F2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E6E9E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снимки для расчёта гари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91440" marB="91440" anchor="ctr">
                    <a:lnL w="12700" cap="flat" cmpd="sng" algn="ctr">
                      <a:solidFill>
                        <a:srgbClr val="2C33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C33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C33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C33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F2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5BC8A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анонимно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91440" marB="91440" anchor="ctr">
                    <a:lnL w="12700" cap="flat" cmpd="sng" algn="ctr">
                      <a:solidFill>
                        <a:srgbClr val="2C33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C33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C33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C33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F27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E6E9E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ESA WorldCover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91440" marB="91440" anchor="ctr">
                    <a:lnL w="12700" cap="flat" cmpd="sng" algn="ctr">
                      <a:solidFill>
                        <a:srgbClr val="2C33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C33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C33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C33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F2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E6E9E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маска сельхозземель, 10 м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91440" marB="91440" anchor="ctr">
                    <a:lnL w="12700" cap="flat" cmpd="sng" algn="ctr">
                      <a:solidFill>
                        <a:srgbClr val="2C33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C33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C33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C33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F2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5BC8A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анонимно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91440" marB="91440" anchor="ctr">
                    <a:lnL w="12700" cap="flat" cmpd="sng" algn="ctr">
                      <a:solidFill>
                        <a:srgbClr val="2C33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C33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C33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C33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F27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E6E9E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MODIS MCD64A1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91440" marB="91440" anchor="ctr">
                    <a:lnL w="12700" cap="flat" cmpd="sng" algn="ctr">
                      <a:solidFill>
                        <a:srgbClr val="2C33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C33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C33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C33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F2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E6E9E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контрольные площади гарей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91440" marB="91440" anchor="ctr">
                    <a:lnL w="12700" cap="flat" cmpd="sng" algn="ctr">
                      <a:solidFill>
                        <a:srgbClr val="2C33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C33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C33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C33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F2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5BC8A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анонимно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91440" marB="91440" anchor="ctr">
                    <a:lnL w="12700" cap="flat" cmpd="sng" algn="ctr">
                      <a:solidFill>
                        <a:srgbClr val="2C33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C33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C33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C33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F27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E6E9E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Landsat Collection 2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91440" marB="91440" anchor="ctr">
                    <a:lnL w="12700" cap="flat" cmpd="sng" algn="ctr">
                      <a:solidFill>
                        <a:srgbClr val="2C33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C33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C33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C33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F2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E6E9E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ретроспектива с 1982 года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91440" marB="91440" anchor="ctr">
                    <a:lnL w="12700" cap="flat" cmpd="sng" algn="ctr">
                      <a:solidFill>
                        <a:srgbClr val="2C33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C33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C33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C33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F2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5BC8A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анонимно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91440" marB="91440" anchor="ctr">
                    <a:lnL w="12700" cap="flat" cmpd="sng" algn="ctr">
                      <a:solidFill>
                        <a:srgbClr val="2C33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C33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C33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C33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F27"/>
                    </a:solidFill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685800" y="4800600"/>
            <a:ext cx="10789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400" dirty="0">
                <a:solidFill>
                  <a:srgbClr val="8D97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Четыре источника из пяти берутся через один каталог Microsoft Planetary Computer без регистрации. Закрытые системы — ИСДМ-Рослесхоз и ВЕГА-Science — не используются: доступ к ним через ЕСИА.</a:t>
            </a:r>
            <a:endParaRPr lang="en-US" sz="1400" dirty="0"/>
          </a:p>
        </p:txBody>
      </p:sp>
      <p:sp>
        <p:nvSpPr>
          <p:cNvPr id="5" name="Text 2"/>
          <p:cNvSpPr txBox="1"/>
          <p:nvPr/>
        </p:nvSpPr>
        <p:spPr>
          <a:xfrm>
            <a:off x="685800" y="6291072"/>
            <a:ext cx="10789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A71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Все эндпоинты проверены обращением 18.09.2026 · протокол в docs/TZ.md, раздел 14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215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457200"/>
            <a:ext cx="107899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E6E9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Путь от точки до гектаров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685800" y="1600200"/>
            <a:ext cx="2514600" cy="1143000"/>
          </a:xfrm>
          <a:prstGeom prst="roundRect">
            <a:avLst>
              <a:gd name="adj" fmla="val 7200"/>
            </a:avLst>
          </a:prstGeom>
          <a:solidFill>
            <a:srgbClr val="1A1F27"/>
          </a:solidFill>
          <a:ln w="12700">
            <a:solidFill>
              <a:srgbClr val="2C333D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14400" y="1755648"/>
            <a:ext cx="2057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6E9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Приём FIRMS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914400" y="2103120"/>
            <a:ext cx="2057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8D97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источника каждые 3 часа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3236976" y="2066544"/>
            <a:ext cx="219456" cy="219456"/>
          </a:xfrm>
          <a:prstGeom prst="rightArrow">
            <a:avLst/>
          </a:prstGeom>
          <a:solidFill>
            <a:srgbClr val="E0622B"/>
          </a:solidFill>
          <a:ln w="12700">
            <a:solidFill>
              <a:srgbClr val="E0622B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493008" y="1600200"/>
            <a:ext cx="2514600" cy="1143000"/>
          </a:xfrm>
          <a:prstGeom prst="roundRect">
            <a:avLst>
              <a:gd name="adj" fmla="val 7200"/>
            </a:avLst>
          </a:prstGeom>
          <a:solidFill>
            <a:srgbClr val="1A1F27"/>
          </a:solidFill>
          <a:ln w="12700">
            <a:solidFill>
              <a:srgbClr val="2C333D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3721608" y="1755648"/>
            <a:ext cx="2057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6E9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Фильтры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3721608" y="2103120"/>
            <a:ext cx="2057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8D97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шкалы, факелы, сельхозпалы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044184" y="2066544"/>
            <a:ext cx="219456" cy="219456"/>
          </a:xfrm>
          <a:prstGeom prst="rightArrow">
            <a:avLst/>
          </a:prstGeom>
          <a:solidFill>
            <a:srgbClr val="E0622B"/>
          </a:solidFill>
          <a:ln w="12700">
            <a:solidFill>
              <a:srgbClr val="E0622B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300216" y="1600200"/>
            <a:ext cx="2514600" cy="1143000"/>
          </a:xfrm>
          <a:prstGeom prst="roundRect">
            <a:avLst>
              <a:gd name="adj" fmla="val 7200"/>
            </a:avLst>
          </a:prstGeom>
          <a:solidFill>
            <a:srgbClr val="1A1F27"/>
          </a:solidFill>
          <a:ln w="12700">
            <a:solidFill>
              <a:srgbClr val="2C333D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528816" y="1755648"/>
            <a:ext cx="2057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6E9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События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6528816" y="2103120"/>
            <a:ext cx="2057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8D97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кластеры с историей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8851392" y="2066544"/>
            <a:ext cx="219456" cy="219456"/>
          </a:xfrm>
          <a:prstGeom prst="rightArrow">
            <a:avLst/>
          </a:prstGeom>
          <a:solidFill>
            <a:srgbClr val="5BC8AF"/>
          </a:solidFill>
          <a:ln w="12700">
            <a:solidFill>
              <a:srgbClr val="5BC8AF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9107424" y="1600200"/>
            <a:ext cx="2514600" cy="1143000"/>
          </a:xfrm>
          <a:prstGeom prst="roundRect">
            <a:avLst>
              <a:gd name="adj" fmla="val 7200"/>
            </a:avLst>
          </a:prstGeom>
          <a:solidFill>
            <a:srgbClr val="1A1F27"/>
          </a:solidFill>
          <a:ln w="12700">
            <a:solidFill>
              <a:srgbClr val="2C333D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9336024" y="1755648"/>
            <a:ext cx="2057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6E9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Гарь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9336024" y="2103120"/>
            <a:ext cx="2057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8D97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dNBR и площадь в га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685800" y="3200400"/>
            <a:ext cx="5212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0A1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Хранилище только на добавление</a:t>
            </a:r>
            <a:endParaRPr lang="en-US" sz="1800" dirty="0"/>
          </a:p>
        </p:txBody>
      </p:sp>
      <p:sp>
        <p:nvSpPr>
          <p:cNvPr id="19" name="Text 17"/>
          <p:cNvSpPr txBox="1"/>
          <p:nvPr/>
        </p:nvSpPr>
        <p:spPr>
          <a:xfrm>
            <a:off x="685800" y="3639312"/>
            <a:ext cx="5212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400" dirty="0">
                <a:solidFill>
                  <a:srgbClr val="BFC7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Правка и удаление истории запрещены на уровне базы. Фильтр ничего не выбрасывает — он переносит точки в служебный слой, и их всегда можно посмотреть.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6263640" y="3200400"/>
            <a:ext cx="5212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0A1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Журнал наблюдений</a:t>
            </a:r>
            <a:endParaRPr lang="en-US" sz="1800" dirty="0"/>
          </a:p>
        </p:txBody>
      </p:sp>
      <p:sp>
        <p:nvSpPr>
          <p:cNvPr id="21" name="Text 19"/>
          <p:cNvSpPr txBox="1"/>
          <p:nvPr/>
        </p:nvSpPr>
        <p:spPr>
          <a:xfrm>
            <a:off x="6263640" y="3639312"/>
            <a:ext cx="5212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400" dirty="0">
                <a:solidFill>
                  <a:srgbClr val="BFC7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Записывается каждый опрос, включая пустые. Без этого «детекций нет» неотличимо от «спутник не пролетал», и пожар можно объявить потухшим из-за облачности.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685800" y="6291072"/>
            <a:ext cx="10789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A71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SPEC-1 … SPEC-9 · 351 тест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E11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deck_map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2834640" y="0"/>
            <a:ext cx="9326880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4937760" cy="6858000"/>
          </a:xfrm>
          <a:prstGeom prst="rect">
            <a:avLst/>
          </a:prstGeom>
          <a:solidFill>
            <a:srgbClr val="0E1116"/>
          </a:solidFill>
          <a:ln w="12700">
            <a:solidFill>
              <a:srgbClr val="0E1116"/>
            </a:solidFill>
            <a:prstDash val="solid"/>
          </a:ln>
        </p:spPr>
      </p:sp>
      <p:sp>
        <p:nvSpPr>
          <p:cNvPr id="4" name="Shape 1"/>
          <p:cNvSpPr/>
          <p:nvPr/>
        </p:nvSpPr>
        <p:spPr>
          <a:xfrm>
            <a:off x="4937760" y="0"/>
            <a:ext cx="1371600" cy="6858000"/>
          </a:xfrm>
          <a:prstGeom prst="rect">
            <a:avLst/>
          </a:prstGeom>
          <a:solidFill>
            <a:srgbClr val="0E1116">
              <a:alpha val="55000"/>
            </a:srgbClr>
          </a:solidFill>
          <a:ln/>
        </p:spPr>
      </p:sp>
      <p:sp>
        <p:nvSpPr>
          <p:cNvPr id="5" name="Text 2"/>
          <p:cNvSpPr txBox="1"/>
          <p:nvPr/>
        </p:nvSpPr>
        <p:spPr>
          <a:xfrm>
            <a:off x="685800" y="1234440"/>
            <a:ext cx="40233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200"/>
              </a:lnSpc>
              <a:buNone/>
            </a:pPr>
            <a:r>
              <a:rPr lang="en-US" sz="3400" b="1" dirty="0">
                <a:solidFill>
                  <a:srgbClr val="E6E9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2562 события</a:t>
            </a:r>
            <a:endParaRPr lang="en-US" sz="3400" dirty="0"/>
          </a:p>
          <a:p>
            <a:pPr indent="0" marL="0">
              <a:lnSpc>
                <a:spcPts val="4200"/>
              </a:lnSpc>
              <a:buNone/>
            </a:pPr>
            <a:r>
              <a:rPr lang="en-US" sz="3400" b="1" dirty="0">
                <a:solidFill>
                  <a:srgbClr val="E6E9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 60 суток</a:t>
            </a:r>
            <a:endParaRPr lang="en-US" sz="3400" dirty="0"/>
          </a:p>
        </p:txBody>
      </p:sp>
      <p:sp>
        <p:nvSpPr>
          <p:cNvPr id="6" name="Text 3"/>
          <p:cNvSpPr txBox="1"/>
          <p:nvPr/>
        </p:nvSpPr>
        <p:spPr>
          <a:xfrm>
            <a:off x="685800" y="2788920"/>
            <a:ext cx="39319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400" dirty="0">
                <a:solidFill>
                  <a:srgbClr val="BFC7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Размер и цвет круга — суммарная мощность излучения очага. Крупнейший комплекс в Эвенкии дал 310 818 мегаватт за две недели горения.</a:t>
            </a:r>
            <a:endParaRPr lang="en-US" sz="1400" dirty="0"/>
          </a:p>
        </p:txBody>
      </p:sp>
      <p:sp>
        <p:nvSpPr>
          <p:cNvPr id="7" name="Text 4"/>
          <p:cNvSpPr txBox="1"/>
          <p:nvPr/>
        </p:nvSpPr>
        <p:spPr>
          <a:xfrm>
            <a:off x="685800" y="4160520"/>
            <a:ext cx="4023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3D06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933 354 детекции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685800" y="4544568"/>
            <a:ext cx="4023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0A13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57 теплоисточников отсеяно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685800" y="4928616"/>
            <a:ext cx="4023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C8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 гари посчитано и проверено</a:t>
            </a:r>
            <a:endParaRPr lang="en-US" sz="1400" dirty="0"/>
          </a:p>
        </p:txBody>
      </p:sp>
      <p:sp>
        <p:nvSpPr>
          <p:cNvPr id="10" name="Text 7"/>
          <p:cNvSpPr txBox="1"/>
          <p:nvPr/>
        </p:nvSpPr>
        <p:spPr>
          <a:xfrm>
            <a:off x="685800" y="6291072"/>
            <a:ext cx="5486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D97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Реальный снимок карты сервиса · 20.07–18.09.2026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215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457200"/>
            <a:ext cx="107899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E6E9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Миллион точек становится тысячами пожаров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685800" y="1554480"/>
            <a:ext cx="3395472" cy="1920240"/>
          </a:xfrm>
          <a:prstGeom prst="roundRect">
            <a:avLst>
              <a:gd name="adj" fmla="val 4286"/>
            </a:avLst>
          </a:prstGeom>
          <a:solidFill>
            <a:srgbClr val="1A1F27"/>
          </a:solidFill>
          <a:ln w="12700">
            <a:solidFill>
              <a:srgbClr val="2C333D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60120" y="1737360"/>
            <a:ext cx="28468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3D06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933 354</a:t>
            </a:r>
            <a:endParaRPr lang="en-US" sz="3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2423160"/>
            <a:ext cx="284683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6E9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детекции от спутников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960120" y="2770632"/>
            <a:ext cx="28468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8D97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сырой поток за 60 суток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383024" y="1554480"/>
            <a:ext cx="3395472" cy="1920240"/>
          </a:xfrm>
          <a:prstGeom prst="roundRect">
            <a:avLst>
              <a:gd name="adj" fmla="val 4286"/>
            </a:avLst>
          </a:prstGeom>
          <a:solidFill>
            <a:srgbClr val="1A1F27"/>
          </a:solidFill>
          <a:ln w="12700">
            <a:solidFill>
              <a:srgbClr val="2C333D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657344" y="1737360"/>
            <a:ext cx="28468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0A13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881 612</a:t>
            </a:r>
            <a:endParaRPr lang="en-US" sz="3200" dirty="0"/>
          </a:p>
        </p:txBody>
      </p:sp>
      <p:sp>
        <p:nvSpPr>
          <p:cNvPr id="9" name="Text 7"/>
          <p:cNvSpPr txBox="1"/>
          <p:nvPr/>
        </p:nvSpPr>
        <p:spPr>
          <a:xfrm>
            <a:off x="4657344" y="2423160"/>
            <a:ext cx="284683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6E9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прошли фильтры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4657344" y="2770632"/>
            <a:ext cx="28468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8D97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отсев по достоверности и персистентности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8080248" y="1554480"/>
            <a:ext cx="3395472" cy="1920240"/>
          </a:xfrm>
          <a:prstGeom prst="roundRect">
            <a:avLst>
              <a:gd name="adj" fmla="val 4286"/>
            </a:avLst>
          </a:prstGeom>
          <a:solidFill>
            <a:srgbClr val="1A1F27"/>
          </a:solidFill>
          <a:ln w="12700">
            <a:solidFill>
              <a:srgbClr val="2C333D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354568" y="1737360"/>
            <a:ext cx="28468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E062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2562</a:t>
            </a:r>
            <a:endParaRPr lang="en-US" sz="3200" dirty="0"/>
          </a:p>
        </p:txBody>
      </p:sp>
      <p:sp>
        <p:nvSpPr>
          <p:cNvPr id="13" name="Text 11"/>
          <p:cNvSpPr txBox="1"/>
          <p:nvPr/>
        </p:nvSpPr>
        <p:spPr>
          <a:xfrm>
            <a:off x="8354568" y="2423160"/>
            <a:ext cx="284683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6E9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события пожаров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8354568" y="2770632"/>
            <a:ext cx="28468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8D97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606 завершённых, 282 активных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685800" y="3703320"/>
            <a:ext cx="10789920" cy="1417320"/>
          </a:xfrm>
          <a:prstGeom prst="roundRect">
            <a:avLst>
              <a:gd name="adj" fmla="val 5806"/>
            </a:avLst>
          </a:prstGeom>
          <a:solidFill>
            <a:srgbClr val="1E1A16"/>
          </a:solidFill>
          <a:ln w="12700">
            <a:solidFill>
              <a:srgbClr val="2C333D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005840" y="3977640"/>
            <a:ext cx="329184" cy="329184"/>
          </a:xfrm>
          <a:prstGeom prst="ellipse">
            <a:avLst/>
          </a:prstGeom>
          <a:solidFill>
            <a:srgbClr val="E0622B"/>
          </a:solidFill>
          <a:ln w="12700">
            <a:solidFill>
              <a:srgbClr val="E0622B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1508760" y="3959352"/>
            <a:ext cx="9601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062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Что мы измерили, а не предположили</a:t>
            </a:r>
            <a:endParaRPr lang="en-US" sz="1800" dirty="0"/>
          </a:p>
        </p:txBody>
      </p:sp>
      <p:sp>
        <p:nvSpPr>
          <p:cNvPr id="18" name="Text 16"/>
          <p:cNvSpPr txBox="1"/>
          <p:nvPr/>
        </p:nvSpPr>
        <p:spPr>
          <a:xfrm>
            <a:off x="1005840" y="4389120"/>
            <a:ext cx="10149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400" dirty="0">
                <a:solidFill>
                  <a:srgbClr val="BFC7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Техзадание называло низкую достоверность «основным источником ложных срабатываний». На живых данных этот фильтр отсекает всего </a:t>
            </a:r>
            <a:pPr indent="0" marL="0">
              <a:lnSpc>
                <a:spcPts val="2100"/>
              </a:lnSpc>
              <a:buNone/>
            </a:pPr>
            <a:r>
              <a:rPr lang="en-US" sz="1400" b="1" dirty="0">
                <a:solidFill>
                  <a:srgbClr val="E6E9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2.6 процента</a:t>
            </a:r>
            <a:pPr indent="0" marL="0">
              <a:lnSpc>
                <a:spcPts val="2100"/>
              </a:lnSpc>
              <a:buNone/>
            </a:pPr>
            <a:r>
              <a:rPr lang="en-US" sz="1400" dirty="0">
                <a:solidFill>
                  <a:srgbClr val="BFC7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Значит, на нём одном целевые показатели не построить — основную работу делают фильтры факелов и сельхозпалов.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685800" y="6291072"/>
            <a:ext cx="10789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A71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SPEC-3, SPEC-6 · измерено на 1872 детекциях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215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457200"/>
            <a:ext cx="107899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E6E9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Газовый факел горит неделями. Пожар движется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1463040"/>
            <a:ext cx="10789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BFC7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Факелы нефтегазовых районов Сибири горят при температуре около 1800 кельвинов — вдвое горячее биомассы — и штатными алгоритмами отсеиваются плохо. Признак, доступный без сырой радиометрии: неподвижность и стабильная мощность.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685800" y="2468880"/>
            <a:ext cx="3395472" cy="2788920"/>
          </a:xfrm>
          <a:prstGeom prst="roundRect">
            <a:avLst>
              <a:gd name="adj" fmla="val 2951"/>
            </a:avLst>
          </a:prstGeom>
          <a:solidFill>
            <a:srgbClr val="1A1F27"/>
          </a:solidFill>
          <a:ln w="12700">
            <a:solidFill>
              <a:srgbClr val="2C333D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960120" y="2651760"/>
            <a:ext cx="2846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8D97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СЛУЖЕБНЫЙ СЛОЙ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960120" y="2944368"/>
            <a:ext cx="284683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0A13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77.5%</a:t>
            </a:r>
            <a:endParaRPr lang="en-US" sz="3800" dirty="0"/>
          </a:p>
        </p:txBody>
      </p:sp>
      <p:sp>
        <p:nvSpPr>
          <p:cNvPr id="7" name="Text 5"/>
          <p:cNvSpPr txBox="1"/>
          <p:nvPr/>
        </p:nvSpPr>
        <p:spPr>
          <a:xfrm>
            <a:off x="960120" y="3657600"/>
            <a:ext cx="2846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BFC7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ночных наблюдений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960120" y="4069080"/>
            <a:ext cx="28468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0A13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47 МВт</a:t>
            </a:r>
            <a:endParaRPr lang="en-US" sz="2400" dirty="0"/>
          </a:p>
        </p:txBody>
      </p:sp>
      <p:sp>
        <p:nvSpPr>
          <p:cNvPr id="9" name="Text 7"/>
          <p:cNvSpPr txBox="1"/>
          <p:nvPr/>
        </p:nvSpPr>
        <p:spPr>
          <a:xfrm>
            <a:off x="960120" y="4553712"/>
            <a:ext cx="2846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BFC7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максимальная мощность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383024" y="2468880"/>
            <a:ext cx="3395472" cy="2788920"/>
          </a:xfrm>
          <a:prstGeom prst="roundRect">
            <a:avLst>
              <a:gd name="adj" fmla="val 2951"/>
            </a:avLst>
          </a:prstGeom>
          <a:solidFill>
            <a:srgbClr val="1A1F27"/>
          </a:solidFill>
          <a:ln w="12700">
            <a:solidFill>
              <a:srgbClr val="2C333D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657344" y="2651760"/>
            <a:ext cx="2846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8D97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ОСНОВНОЙ СЛОЙ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4657344" y="2944368"/>
            <a:ext cx="284683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E6E9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50.9%</a:t>
            </a:r>
            <a:endParaRPr lang="en-US" sz="3800" dirty="0"/>
          </a:p>
        </p:txBody>
      </p:sp>
      <p:sp>
        <p:nvSpPr>
          <p:cNvPr id="13" name="Text 11"/>
          <p:cNvSpPr txBox="1"/>
          <p:nvPr/>
        </p:nvSpPr>
        <p:spPr>
          <a:xfrm>
            <a:off x="4657344" y="3657600"/>
            <a:ext cx="2846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BFC7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ночных наблюдений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4657344" y="4069080"/>
            <a:ext cx="28468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B3221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2682 МВт</a:t>
            </a:r>
            <a:endParaRPr lang="en-US" sz="2400" dirty="0"/>
          </a:p>
        </p:txBody>
      </p:sp>
      <p:sp>
        <p:nvSpPr>
          <p:cNvPr id="15" name="Text 13"/>
          <p:cNvSpPr txBox="1"/>
          <p:nvPr/>
        </p:nvSpPr>
        <p:spPr>
          <a:xfrm>
            <a:off x="4657344" y="4553712"/>
            <a:ext cx="2846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BFC7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максимальная мощность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8080248" y="2468880"/>
            <a:ext cx="3395472" cy="2788920"/>
          </a:xfrm>
          <a:prstGeom prst="roundRect">
            <a:avLst>
              <a:gd name="adj" fmla="val 2951"/>
            </a:avLst>
          </a:prstGeom>
          <a:solidFill>
            <a:srgbClr val="241A15"/>
          </a:solidFill>
          <a:ln w="12700">
            <a:solidFill>
              <a:srgbClr val="2C333D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8354568" y="2651760"/>
            <a:ext cx="2846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0A1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ВЫВОД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8354568" y="3017520"/>
            <a:ext cx="2846832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300"/>
              </a:lnSpc>
              <a:buNone/>
            </a:pPr>
            <a:r>
              <a:rPr lang="en-US" sz="1500" dirty="0">
                <a:solidFill>
                  <a:srgbClr val="E6E9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Максимум мощности в служебном слое в </a:t>
            </a:r>
            <a:pPr indent="0" marL="0">
              <a:lnSpc>
                <a:spcPts val="2300"/>
              </a:lnSpc>
              <a:buNone/>
            </a:pPr>
            <a:r>
              <a:rPr lang="en-US" sz="1500" b="1" dirty="0">
                <a:solidFill>
                  <a:srgbClr val="F0A1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57 раз ниже</a:t>
            </a:r>
            <a:pPr indent="0" marL="0">
              <a:lnSpc>
                <a:spcPts val="2300"/>
              </a:lnSpc>
              <a:buNone/>
            </a:pPr>
            <a:r>
              <a:rPr lang="en-US" sz="1500" dirty="0">
                <a:solidFill>
                  <a:srgbClr val="E6E9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Крупные пожарные комплексы туда не попали — фильтр не съедает настоящие пожары.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685800" y="6291072"/>
            <a:ext cx="10789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A71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SPEC-4 · 57 источников найдено на 61 243 детекциях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F13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457200"/>
            <a:ext cx="107899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E6E9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Гарь: снимок до, снимок после, разница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1463040"/>
            <a:ext cx="10789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BFC7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Индекс гари считается по ближнему и коротковолновому инфракрасным каналам. Разница между снимками до и после пожара даёт степень поражения; площадь каждого класса суммируется в гектарах.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685800" y="2377440"/>
            <a:ext cx="2514600" cy="2606040"/>
          </a:xfrm>
          <a:prstGeom prst="roundRect">
            <a:avLst>
              <a:gd name="adj" fmla="val 3273"/>
            </a:avLst>
          </a:prstGeom>
          <a:solidFill>
            <a:srgbClr val="1A1F27"/>
          </a:solidFill>
          <a:ln w="12700">
            <a:solidFill>
              <a:srgbClr val="2C333D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41832" y="2606040"/>
            <a:ext cx="274320" cy="274320"/>
          </a:xfrm>
          <a:prstGeom prst="ellipse">
            <a:avLst/>
          </a:prstGeom>
          <a:solidFill>
            <a:srgbClr val="5BC8AF"/>
          </a:solidFill>
          <a:ln w="12700">
            <a:solidFill>
              <a:srgbClr val="5BC8A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41832" y="2999232"/>
            <a:ext cx="200253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500" b="1" dirty="0">
                <a:solidFill>
                  <a:srgbClr val="5BC8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Один тайл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941832" y="3566160"/>
            <a:ext cx="2002536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BFC7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Пара сцен строго из одной зоны проекции. Иначе сетки не совпадут и вычитание даст мусор.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3444545" y="2377440"/>
            <a:ext cx="2514600" cy="2606040"/>
          </a:xfrm>
          <a:prstGeom prst="roundRect">
            <a:avLst>
              <a:gd name="adj" fmla="val 3273"/>
            </a:avLst>
          </a:prstGeom>
          <a:solidFill>
            <a:srgbClr val="1A1F27"/>
          </a:solidFill>
          <a:ln w="12700">
            <a:solidFill>
              <a:srgbClr val="2C333D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700577" y="2606040"/>
            <a:ext cx="274320" cy="274320"/>
          </a:xfrm>
          <a:prstGeom prst="ellipse">
            <a:avLst/>
          </a:prstGeom>
          <a:solidFill>
            <a:srgbClr val="5BC8AF"/>
          </a:solidFill>
          <a:ln w="12700">
            <a:solidFill>
              <a:srgbClr val="5BC8AF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3700577" y="2999232"/>
            <a:ext cx="200253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500" b="1" dirty="0">
                <a:solidFill>
                  <a:srgbClr val="5BC8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Облачность по месту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3700577" y="3566160"/>
            <a:ext cx="2002536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BFC7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 по всей сцене 110 километров, а по самой области пожара: нужно 80 процентов чистых пикселей.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6203290" y="2377440"/>
            <a:ext cx="2514600" cy="2606040"/>
          </a:xfrm>
          <a:prstGeom prst="roundRect">
            <a:avLst>
              <a:gd name="adj" fmla="val 3273"/>
            </a:avLst>
          </a:prstGeom>
          <a:solidFill>
            <a:srgbClr val="1A1F27"/>
          </a:solidFill>
          <a:ln w="12700">
            <a:solidFill>
              <a:srgbClr val="2C333D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459322" y="2606040"/>
            <a:ext cx="274320" cy="274320"/>
          </a:xfrm>
          <a:prstGeom prst="ellipse">
            <a:avLst/>
          </a:prstGeom>
          <a:solidFill>
            <a:srgbClr val="5BC8AF"/>
          </a:solidFill>
          <a:ln w="12700">
            <a:solidFill>
              <a:srgbClr val="5BC8AF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459322" y="2999232"/>
            <a:ext cx="200253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500" b="1" dirty="0">
                <a:solidFill>
                  <a:srgbClr val="5BC8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Полярная ночь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6459322" y="3566160"/>
            <a:ext cx="2002536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BFC7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Севернее 66 градусов зимой оптики нет вовсе. Сервис отвечает «отложено» с датой, а не нулём гектаров.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8962034" y="2377440"/>
            <a:ext cx="2514600" cy="2606040"/>
          </a:xfrm>
          <a:prstGeom prst="roundRect">
            <a:avLst>
              <a:gd name="adj" fmla="val 3273"/>
            </a:avLst>
          </a:prstGeom>
          <a:solidFill>
            <a:srgbClr val="1A1F27"/>
          </a:solidFill>
          <a:ln w="12700">
            <a:solidFill>
              <a:srgbClr val="2C333D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9218066" y="2606040"/>
            <a:ext cx="274320" cy="274320"/>
          </a:xfrm>
          <a:prstGeom prst="ellipse">
            <a:avLst/>
          </a:prstGeom>
          <a:solidFill>
            <a:srgbClr val="5BC8AF"/>
          </a:solidFill>
          <a:ln w="12700">
            <a:solidFill>
              <a:srgbClr val="5BC8AF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9218066" y="2999232"/>
            <a:ext cx="200253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500" b="1" dirty="0">
                <a:solidFill>
                  <a:srgbClr val="5BC8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Доля под маской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9218066" y="3566160"/>
            <a:ext cx="2002536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BFC7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Площадь без неё не публикуется: гектары по области, наполовину закрытой облаком, выглядят так же честно.</a:t>
            </a:r>
            <a:endParaRPr lang="en-US" sz="1250" dirty="0"/>
          </a:p>
        </p:txBody>
      </p:sp>
      <p:sp>
        <p:nvSpPr>
          <p:cNvPr id="20" name="Text 18"/>
          <p:cNvSpPr txBox="1"/>
          <p:nvPr/>
        </p:nvSpPr>
        <p:spPr>
          <a:xfrm>
            <a:off x="685800" y="6291072"/>
            <a:ext cx="10789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A71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SPEC-7 · пороги USGS, версия сохраняется вместе с результатом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A111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5029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E062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ПЕРВАЯ ПОПЫТКА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868680"/>
            <a:ext cx="107899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800"/>
              </a:lnSpc>
              <a:buNone/>
            </a:pPr>
            <a:r>
              <a:rPr lang="en-US" sz="3000" b="1" dirty="0">
                <a:solidFill>
                  <a:srgbClr val="E6E9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Конвейер выдал 17 711 гектаров.</a:t>
            </a:r>
            <a:endParaRPr lang="en-US" sz="3000" dirty="0"/>
          </a:p>
          <a:p>
            <a:pPr indent="0" marL="0">
              <a:lnSpc>
                <a:spcPts val="3800"/>
              </a:lnSpc>
              <a:buNone/>
            </a:pPr>
            <a:r>
              <a:rPr lang="en-US" sz="3000" b="1" dirty="0">
                <a:solidFill>
                  <a:srgbClr val="E6E9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Число оказалось ложным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2148840"/>
            <a:ext cx="10789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E4C9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Мы проверили результат об источник, который его и породил: попадают ли термоточки пожара на пиксели, помеченные гарью. Корректная карта даёт попадание заметно чаще случайного.</a:t>
            </a:r>
            <a:endParaRPr lang="en-US" sz="15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2971800"/>
          <a:ext cx="10789920" cy="914400"/>
        </p:xfrm>
        <a:graphic>
          <a:graphicData uri="http://schemas.openxmlformats.org/drawingml/2006/table">
            <a:tbl>
              <a:tblPr/>
              <a:tblGrid>
                <a:gridCol w="4206240"/>
                <a:gridCol w="2194560"/>
                <a:gridCol w="2194560"/>
                <a:gridCol w="219456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C9A9A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Класс поражения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91440" marB="91440" anchor="ctr">
                    <a:lnL w="12700" cap="flat" cmpd="sng" algn="ctr">
                      <a:solidFill>
                        <a:srgbClr val="4A2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A2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A2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A2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161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C9A9A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Доля площади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91440" marB="91440" anchor="ctr">
                    <a:lnL w="12700" cap="flat" cmpd="sng" algn="ctr">
                      <a:solidFill>
                        <a:srgbClr val="4A2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A2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A2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A2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161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C9A9A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Доля точек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91440" marB="91440" anchor="ctr">
                    <a:lnL w="12700" cap="flat" cmpd="sng" algn="ctr">
                      <a:solidFill>
                        <a:srgbClr val="4A2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A2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A2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A2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161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C9A9A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Совпадение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91440" marB="91440" anchor="ctr">
                    <a:lnL w="12700" cap="flat" cmpd="sng" algn="ctr">
                      <a:solidFill>
                        <a:srgbClr val="4A2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A2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A2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A2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161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E6E9E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не горело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91440" marB="91440" anchor="ctr">
                    <a:lnL w="12700" cap="flat" cmpd="sng" algn="ctr">
                      <a:solidFill>
                        <a:srgbClr val="4A2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A2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A2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A2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161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E6E9E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59.7%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91440" marB="91440" anchor="ctr">
                    <a:lnL w="12700" cap="flat" cmpd="sng" algn="ctr">
                      <a:solidFill>
                        <a:srgbClr val="4A2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A2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A2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A2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161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E6E9E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94.0%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91440" marB="91440" anchor="ctr">
                    <a:lnL w="12700" cap="flat" cmpd="sng" algn="ctr">
                      <a:solidFill>
                        <a:srgbClr val="4A2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A2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A2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A2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161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8D97A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1.58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91440" marB="91440" anchor="ctr">
                    <a:lnL w="12700" cap="flat" cmpd="sng" algn="ctr">
                      <a:solidFill>
                        <a:srgbClr val="4A2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A2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A2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A2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161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E6E9E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слабое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91440" marB="91440" anchor="ctr">
                    <a:lnL w="12700" cap="flat" cmpd="sng" algn="ctr">
                      <a:solidFill>
                        <a:srgbClr val="4A2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A2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A2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A2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161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E6E9E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16.3%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91440" marB="91440" anchor="ctr">
                    <a:lnL w="12700" cap="flat" cmpd="sng" algn="ctr">
                      <a:solidFill>
                        <a:srgbClr val="4A2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A2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A2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A2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161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E6E9E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4.1%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91440" marB="91440" anchor="ctr">
                    <a:lnL w="12700" cap="flat" cmpd="sng" algn="ctr">
                      <a:solidFill>
                        <a:srgbClr val="4A2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A2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A2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A2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161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B322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91440" marB="91440" anchor="ctr">
                    <a:lnL w="12700" cap="flat" cmpd="sng" algn="ctr">
                      <a:solidFill>
                        <a:srgbClr val="4A2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A2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A2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A2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161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E6E9E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умеренно слабое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91440" marB="91440" anchor="ctr">
                    <a:lnL w="12700" cap="flat" cmpd="sng" algn="ctr">
                      <a:solidFill>
                        <a:srgbClr val="4A2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A2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A2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A2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161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E6E9E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20.5%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91440" marB="91440" anchor="ctr">
                    <a:lnL w="12700" cap="flat" cmpd="sng" algn="ctr">
                      <a:solidFill>
                        <a:srgbClr val="4A2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A2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A2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A2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161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E6E9E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1.9%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91440" marB="91440" anchor="ctr">
                    <a:lnL w="12700" cap="flat" cmpd="sng" algn="ctr">
                      <a:solidFill>
                        <a:srgbClr val="4A2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A2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A2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A2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161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B322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0.09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91440" marB="91440" anchor="ctr">
                    <a:lnL w="12700" cap="flat" cmpd="sng" algn="ctr">
                      <a:solidFill>
                        <a:srgbClr val="4A2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A2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A2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A2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161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E6E9E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умеренно сильное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91440" marB="91440" anchor="ctr">
                    <a:lnL w="12700" cap="flat" cmpd="sng" algn="ctr">
                      <a:solidFill>
                        <a:srgbClr val="4A2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A2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A2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A2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161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E6E9E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3.5%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91440" marB="91440" anchor="ctr">
                    <a:lnL w="12700" cap="flat" cmpd="sng" algn="ctr">
                      <a:solidFill>
                        <a:srgbClr val="4A2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A2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A2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A2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161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E6E9E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91440" marB="91440" anchor="ctr">
                    <a:lnL w="12700" cap="flat" cmpd="sng" algn="ctr">
                      <a:solidFill>
                        <a:srgbClr val="4A2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A2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A2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A2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161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B322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91440" marB="91440" anchor="ctr">
                    <a:lnL w="12700" cap="flat" cmpd="sng" algn="ctr">
                      <a:solidFill>
                        <a:srgbClr val="4A2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A2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A2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A2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1619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 txBox="1"/>
          <p:nvPr/>
        </p:nvSpPr>
        <p:spPr>
          <a:xfrm>
            <a:off x="685800" y="5230368"/>
            <a:ext cx="107899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400" b="1" dirty="0">
                <a:solidFill>
                  <a:srgbClr val="F0A1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Термоточки попадали на «гарь» реже случайного,</a:t>
            </a:r>
            <a:pPr indent="0" marL="0">
              <a:lnSpc>
                <a:spcPts val="2000"/>
              </a:lnSpc>
              <a:buNone/>
            </a:pPr>
            <a:r>
              <a:rPr lang="en-US" sz="1400" dirty="0">
                <a:solidFill>
                  <a:srgbClr val="F0A1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а 94 процента из них лежали там, где «не горело». Причина — сцены июня и сентября: сезонное увядание растительности конвейер принял за пожар.</a:t>
            </a:r>
            <a:endParaRPr lang="en-US" sz="1400" dirty="0"/>
          </a:p>
        </p:txBody>
      </p:sp>
      <p:sp>
        <p:nvSpPr>
          <p:cNvPr id="7" name="Text 4"/>
          <p:cNvSpPr txBox="1"/>
          <p:nvPr/>
        </p:nvSpPr>
        <p:spPr>
          <a:xfrm>
            <a:off x="685800" y="6291072"/>
            <a:ext cx="10789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A6F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Receipt SPEC-7-LIVE-002, статус FAIL · опубликован, а не переписан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01A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5029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5BC8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ИСПРАВЛЕНИЕ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868680"/>
            <a:ext cx="10789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E6E9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Сцены должны быть сняты в одну фазу сезона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85800" y="1828800"/>
            <a:ext cx="3657600" cy="3291840"/>
          </a:xfrm>
          <a:prstGeom prst="roundRect">
            <a:avLst>
              <a:gd name="adj" fmla="val 2500"/>
            </a:avLst>
          </a:prstGeom>
          <a:solidFill>
            <a:srgbClr val="16221D"/>
          </a:solidFill>
          <a:ln w="12700">
            <a:solidFill>
              <a:srgbClr val="2C333D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960120" y="201168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8D97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РАЗРЫВ ПО ДНЮ ГОДА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960120" y="2331720"/>
            <a:ext cx="3108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B3221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70 суток</a:t>
            </a:r>
            <a:endParaRPr lang="en-US" sz="2600" dirty="0"/>
          </a:p>
        </p:txBody>
      </p:sp>
      <p:sp>
        <p:nvSpPr>
          <p:cNvPr id="7" name="Text 5"/>
          <p:cNvSpPr txBox="1"/>
          <p:nvPr/>
        </p:nvSpPr>
        <p:spPr>
          <a:xfrm>
            <a:off x="960120" y="2852928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8BD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было: июнь против сентября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960120" y="3429000"/>
            <a:ext cx="3108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5BC8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28–30 суток</a:t>
            </a:r>
            <a:endParaRPr lang="en-US" sz="2600" dirty="0"/>
          </a:p>
        </p:txBody>
      </p:sp>
      <p:sp>
        <p:nvSpPr>
          <p:cNvPr id="9" name="Text 7"/>
          <p:cNvSpPr txBox="1"/>
          <p:nvPr/>
        </p:nvSpPr>
        <p:spPr>
          <a:xfrm>
            <a:off x="960120" y="3950208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8BD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стало: ограничение в конвейере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617720" y="1828800"/>
            <a:ext cx="6858000" cy="3291840"/>
          </a:xfrm>
          <a:prstGeom prst="roundRect">
            <a:avLst>
              <a:gd name="adj" fmla="val 2500"/>
            </a:avLst>
          </a:prstGeom>
          <a:solidFill>
            <a:srgbClr val="16221D"/>
          </a:solidFill>
          <a:ln w="12700">
            <a:solidFill>
              <a:srgbClr val="2C333D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892040" y="2011680"/>
            <a:ext cx="6309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8D97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СОВПАДЕНИЕ С МЕСТОМ ГОРЕНИЯ, ТРИ КОНТРОЛЬНЫХ ПОЖАРА</a:t>
            </a:r>
            <a:endParaRPr lang="en-US" sz="12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892040" y="2377440"/>
          <a:ext cx="630936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2194560"/>
                <a:gridCol w="278892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8D97A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Широта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91440" marB="91440" anchor="ctr">
                    <a:lnL w="12700" cap="flat" cmpd="sng" algn="ctr">
                      <a:solidFill>
                        <a:srgbClr val="2742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742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742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742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8D97A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Совпадение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91440" marB="91440" anchor="ctr">
                    <a:lnL w="12700" cap="flat" cmpd="sng" algn="ctr">
                      <a:solidFill>
                        <a:srgbClr val="2742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742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742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742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8D97A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Площадь гари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91440" marB="91440" anchor="ctr">
                    <a:lnL w="12700" cap="flat" cmpd="sng" algn="ctr">
                      <a:solidFill>
                        <a:srgbClr val="2742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742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742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742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24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E6E9E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59.3 северной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91440" marB="91440" anchor="ctr">
                    <a:lnL w="12700" cap="flat" cmpd="sng" algn="ctr">
                      <a:solidFill>
                        <a:srgbClr val="2742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742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742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742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5BC8A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11.64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91440" marB="91440" anchor="ctr">
                    <a:lnL w="12700" cap="flat" cmpd="sng" algn="ctr">
                      <a:solidFill>
                        <a:srgbClr val="2742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742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742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742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E6E9E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73.5 га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91440" marB="91440" anchor="ctr">
                    <a:lnL w="12700" cap="flat" cmpd="sng" algn="ctr">
                      <a:solidFill>
                        <a:srgbClr val="2742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742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742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742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24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E6E9E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65.7 северной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91440" marB="91440" anchor="ctr">
                    <a:lnL w="12700" cap="flat" cmpd="sng" algn="ctr">
                      <a:solidFill>
                        <a:srgbClr val="2742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742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742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742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5BC8A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3.02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91440" marB="91440" anchor="ctr">
                    <a:lnL w="12700" cap="flat" cmpd="sng" algn="ctr">
                      <a:solidFill>
                        <a:srgbClr val="2742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742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742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742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E6E9E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11 858 га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91440" marB="91440" anchor="ctr">
                    <a:lnL w="12700" cap="flat" cmpd="sng" algn="ctr">
                      <a:solidFill>
                        <a:srgbClr val="2742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742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742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742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24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E6E9E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68.8 северной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91440" marB="91440" anchor="ctr">
                    <a:lnL w="12700" cap="flat" cmpd="sng" algn="ctr">
                      <a:solidFill>
                        <a:srgbClr val="2742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742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742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742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5BC8A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2.74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91440" marB="91440" anchor="ctr">
                    <a:lnL w="12700" cap="flat" cmpd="sng" algn="ctr">
                      <a:solidFill>
                        <a:srgbClr val="2742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742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742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742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E6E9E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7 823 га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91440" marB="91440" anchor="ctr">
                    <a:lnL w="12700" cap="flat" cmpd="sng" algn="ctr">
                      <a:solidFill>
                        <a:srgbClr val="2742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742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742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742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24"/>
                    </a:solidFill>
                  </a:tcPr>
                </a:tc>
              </a:tr>
            </a:tbl>
          </a:graphicData>
        </a:graphic>
      </p:graphicFrame>
      <p:sp>
        <p:nvSpPr>
          <p:cNvPr id="13" name="Text 10"/>
          <p:cNvSpPr txBox="1"/>
          <p:nvPr/>
        </p:nvSpPr>
        <p:spPr>
          <a:xfrm>
            <a:off x="4892040" y="4160520"/>
            <a:ext cx="6309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400" dirty="0">
                <a:solidFill>
                  <a:srgbClr val="A8BD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Было 0.25 — реже случайного. Стало от 2.7 до 11.6 раз чаще. А тот самый пожар с 17 711 гектарами теперь честно отвечает «пары сцен нет, посчитать не могу».</a:t>
            </a:r>
            <a:endParaRPr lang="en-US" sz="1400" dirty="0"/>
          </a:p>
        </p:txBody>
      </p:sp>
      <p:sp>
        <p:nvSpPr>
          <p:cNvPr id="14" name="Text 11"/>
          <p:cNvSpPr txBox="1"/>
          <p:nvPr/>
        </p:nvSpPr>
        <p:spPr>
          <a:xfrm>
            <a:off x="685800" y="6291072"/>
            <a:ext cx="10789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A82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SPEC-9 · результат ниже порога получает статус «не проверено» и не публикуется как факт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E11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deck_ui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61520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2161520" cy="1920240"/>
          </a:xfrm>
          <a:prstGeom prst="rect">
            <a:avLst/>
          </a:prstGeom>
          <a:solidFill>
            <a:srgbClr val="0E1116">
              <a:alpha val="88000"/>
            </a:srgbClr>
          </a:solidFill>
          <a:ln/>
        </p:spPr>
      </p:sp>
      <p:sp>
        <p:nvSpPr>
          <p:cNvPr id="4" name="Text 1"/>
          <p:cNvSpPr txBox="1"/>
          <p:nvPr/>
        </p:nvSpPr>
        <p:spPr>
          <a:xfrm>
            <a:off x="685800" y="411480"/>
            <a:ext cx="8686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6E9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Тонкий клиент: вся арифметика на сервере</a:t>
            </a:r>
            <a:endParaRPr lang="en-US" sz="3000" dirty="0"/>
          </a:p>
        </p:txBody>
      </p:sp>
      <p:sp>
        <p:nvSpPr>
          <p:cNvPr id="5" name="Text 2"/>
          <p:cNvSpPr txBox="1"/>
          <p:nvPr/>
        </p:nvSpPr>
        <p:spPr>
          <a:xfrm>
            <a:off x="685800" y="1143000"/>
            <a:ext cx="7680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400" dirty="0">
                <a:solidFill>
                  <a:srgbClr val="C6CE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Три слоя, панель отчёта по классам поражения, экспорт в GeoJSON и CSV, состояние каждого источника данных.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685800" y="6291072"/>
            <a:ext cx="10789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D97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Восемь эндпоинтов REST API · старт из кеша за 8 секунд без ключей</a:t>
            </a:r>
            <a:endParaRPr lang="en-US" sz="11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215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457200"/>
            <a:ext cx="107899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E6E9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Каждое число тянет за собой доказательство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1463040"/>
            <a:ext cx="107899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BFC7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Область позволяет соврать незаметно: площадь гари посчитается всегда, доля ложных срабатываний получится любым числом, а сверить с землёй нечем. Поэтому код не пишется раньше своей спецификации, а каждый прогон оставляет запись на диске.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685800" y="2377440"/>
            <a:ext cx="3395472" cy="1783080"/>
          </a:xfrm>
          <a:prstGeom prst="roundRect">
            <a:avLst>
              <a:gd name="adj" fmla="val 4615"/>
            </a:avLst>
          </a:prstGeom>
          <a:solidFill>
            <a:srgbClr val="1A1F27"/>
          </a:solidFill>
          <a:ln w="12700">
            <a:solidFill>
              <a:srgbClr val="2C333D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960120" y="2542032"/>
            <a:ext cx="28468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5BC8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21</a:t>
            </a:r>
            <a:endParaRPr lang="en-US" sz="3400" dirty="0"/>
          </a:p>
        </p:txBody>
      </p:sp>
      <p:sp>
        <p:nvSpPr>
          <p:cNvPr id="6" name="Text 4"/>
          <p:cNvSpPr txBox="1"/>
          <p:nvPr/>
        </p:nvSpPr>
        <p:spPr>
          <a:xfrm>
            <a:off x="960120" y="3200400"/>
            <a:ext cx="28468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6E9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спецификации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960120" y="3520440"/>
            <a:ext cx="284683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8D97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 каждой критерии приёмки с командами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383024" y="2377440"/>
            <a:ext cx="3395472" cy="1783080"/>
          </a:xfrm>
          <a:prstGeom prst="roundRect">
            <a:avLst>
              <a:gd name="adj" fmla="val 4615"/>
            </a:avLst>
          </a:prstGeom>
          <a:solidFill>
            <a:srgbClr val="1A1F27"/>
          </a:solidFill>
          <a:ln w="12700">
            <a:solidFill>
              <a:srgbClr val="2C333D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657344" y="2542032"/>
            <a:ext cx="28468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5BC8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425</a:t>
            </a:r>
            <a:endParaRPr lang="en-US" sz="3400" dirty="0"/>
          </a:p>
        </p:txBody>
      </p:sp>
      <p:sp>
        <p:nvSpPr>
          <p:cNvPr id="10" name="Text 8"/>
          <p:cNvSpPr txBox="1"/>
          <p:nvPr/>
        </p:nvSpPr>
        <p:spPr>
          <a:xfrm>
            <a:off x="4657344" y="3200400"/>
            <a:ext cx="28468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6E9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теста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4657344" y="3520440"/>
            <a:ext cx="284683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8D97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каждый назван по критерию, который проверяет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8080248" y="2377440"/>
            <a:ext cx="3395472" cy="1783080"/>
          </a:xfrm>
          <a:prstGeom prst="roundRect">
            <a:avLst>
              <a:gd name="adj" fmla="val 4615"/>
            </a:avLst>
          </a:prstGeom>
          <a:solidFill>
            <a:srgbClr val="1A1F27"/>
          </a:solidFill>
          <a:ln w="12700">
            <a:solidFill>
              <a:srgbClr val="2C333D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354568" y="2542032"/>
            <a:ext cx="28468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5BC8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29</a:t>
            </a:r>
            <a:endParaRPr lang="en-US" sz="3400" dirty="0"/>
          </a:p>
        </p:txBody>
      </p:sp>
      <p:sp>
        <p:nvSpPr>
          <p:cNvPr id="14" name="Text 12"/>
          <p:cNvSpPr txBox="1"/>
          <p:nvPr/>
        </p:nvSpPr>
        <p:spPr>
          <a:xfrm>
            <a:off x="8354568" y="3200400"/>
            <a:ext cx="28468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6E9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записей о прогонах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8354568" y="3520440"/>
            <a:ext cx="284683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8D97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включая один со статусом «провал»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685800" y="4370832"/>
            <a:ext cx="10789920" cy="1234440"/>
          </a:xfrm>
          <a:prstGeom prst="roundRect">
            <a:avLst>
              <a:gd name="adj" fmla="val 6667"/>
            </a:avLst>
          </a:prstGeom>
          <a:solidFill>
            <a:srgbClr val="1E1A16"/>
          </a:solidFill>
          <a:ln w="12700">
            <a:solidFill>
              <a:srgbClr val="2C333D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005840" y="4617720"/>
            <a:ext cx="292608" cy="292608"/>
          </a:xfrm>
          <a:prstGeom prst="ellipse">
            <a:avLst/>
          </a:prstGeom>
          <a:solidFill>
            <a:srgbClr val="F0A132"/>
          </a:solidFill>
          <a:ln w="12700">
            <a:solidFill>
              <a:srgbClr val="F0A132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1463040" y="4590288"/>
            <a:ext cx="9692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0A1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Правила, которые проверяет автоматика</a:t>
            </a:r>
            <a:endParaRPr lang="en-US" sz="1700" dirty="0"/>
          </a:p>
        </p:txBody>
      </p:sp>
      <p:sp>
        <p:nvSpPr>
          <p:cNvPr id="19" name="Text 17"/>
          <p:cNvSpPr txBox="1"/>
          <p:nvPr/>
        </p:nvSpPr>
        <p:spPr>
          <a:xfrm>
            <a:off x="1005840" y="4983480"/>
            <a:ext cx="10149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400" dirty="0">
                <a:solidFill>
                  <a:srgbClr val="BFC7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Статус «проверено» невозможно проставить без записи об успешном прогоне на диске. Каждая запись обязана содержать список того, что она </a:t>
            </a:r>
            <a:pPr indent="0" marL="0">
              <a:lnSpc>
                <a:spcPts val="2000"/>
              </a:lnSpc>
              <a:buNone/>
            </a:pPr>
            <a:r>
              <a:rPr lang="en-US" sz="1400" b="1" i="1" dirty="0">
                <a:solidFill>
                  <a:srgbClr val="E6E9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</a:t>
            </a:r>
            <a:pPr indent="0" marL="0">
              <a:lnSpc>
                <a:spcPts val="2000"/>
              </a:lnSpc>
              <a:buNone/>
            </a:pPr>
            <a:r>
              <a:rPr lang="en-US" sz="1400" dirty="0">
                <a:solidFill>
                  <a:srgbClr val="BFC7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доказывает. Порог не двигают после того, как увидели результат.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685800" y="6291072"/>
            <a:ext cx="10789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A71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Дисциплина перенесена из соседних проектов · gate запускается в CI</a:t>
            </a:r>
            <a:endParaRPr lang="en-US" sz="11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F13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457200"/>
            <a:ext cx="107899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E6E9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Ответ соревнования — строка CSV, а не карта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1463040"/>
            <a:ext cx="10789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BFC7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Проверяющая система читает один файл. Маска каждого чипа сжимается в серии «начальный пиксель — длина», по строке на класс. Эта часть закрывалась первой, до всякой модели: решение без валидного файла получает ноль за метрику, а решение со слабым сабмитом — нет.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685800" y="2450592"/>
            <a:ext cx="5577840" cy="1371600"/>
          </a:xfrm>
          <a:prstGeom prst="roundRect">
            <a:avLst>
              <a:gd name="adj" fmla="val 6000"/>
            </a:avLst>
          </a:prstGeom>
          <a:solidFill>
            <a:srgbClr val="161B22"/>
          </a:solidFill>
          <a:ln w="12700">
            <a:solidFill>
              <a:srgbClr val="2C333D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978408" y="2606040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8D97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chip_id,class_id,rle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978408" y="2926080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C8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BS_pub_000004,2,"7 3 143 5 280 2"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978408" y="329184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8D97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нумерация с единицы · серии по возрастанию · смежные слиты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6537960" y="2450592"/>
            <a:ext cx="4937760" cy="914400"/>
          </a:xfrm>
          <a:prstGeom prst="roundRect">
            <a:avLst>
              <a:gd name="adj" fmla="val 9000"/>
            </a:avLst>
          </a:prstGeom>
          <a:solidFill>
            <a:srgbClr val="1A1F27"/>
          </a:solidFill>
          <a:ln w="12700">
            <a:solidFill>
              <a:srgbClr val="2C333D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766560" y="2578608"/>
            <a:ext cx="822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0A13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447</a:t>
            </a:r>
            <a:endParaRPr lang="en-US" sz="2600" dirty="0"/>
          </a:p>
        </p:txBody>
      </p:sp>
      <p:sp>
        <p:nvSpPr>
          <p:cNvPr id="10" name="Text 8"/>
          <p:cNvSpPr txBox="1"/>
          <p:nvPr/>
        </p:nvSpPr>
        <p:spPr>
          <a:xfrm>
            <a:off x="7680960" y="2569464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6E9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строк без заголовка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7680960" y="2852928"/>
            <a:ext cx="3474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8D97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 одной на чип активного горения, по три на чип гари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6537960" y="3474720"/>
            <a:ext cx="4937760" cy="914400"/>
          </a:xfrm>
          <a:prstGeom prst="roundRect">
            <a:avLst>
              <a:gd name="adj" fmla="val 9000"/>
            </a:avLst>
          </a:prstGeom>
          <a:solidFill>
            <a:srgbClr val="1A1F27"/>
          </a:solidFill>
          <a:ln w="12700">
            <a:solidFill>
              <a:srgbClr val="2C333D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766560" y="3602736"/>
            <a:ext cx="822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0A13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2600" dirty="0"/>
          </a:p>
        </p:txBody>
      </p:sp>
      <p:sp>
        <p:nvSpPr>
          <p:cNvPr id="14" name="Text 12"/>
          <p:cNvSpPr txBox="1"/>
          <p:nvPr/>
        </p:nvSpPr>
        <p:spPr>
          <a:xfrm>
            <a:off x="7680960" y="3593592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6E9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видов подделок отвергаются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7680960" y="3877056"/>
            <a:ext cx="3474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8D97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лишняя пара, недостающая, пересечение классов, выход за край, пустая ячейка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6537960" y="4498848"/>
            <a:ext cx="4937760" cy="914400"/>
          </a:xfrm>
          <a:prstGeom prst="roundRect">
            <a:avLst>
              <a:gd name="adj" fmla="val 9000"/>
            </a:avLst>
          </a:prstGeom>
          <a:solidFill>
            <a:srgbClr val="1A1F27"/>
          </a:solidFill>
          <a:ln w="12700">
            <a:solidFill>
              <a:srgbClr val="2C333D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766560" y="4626864"/>
            <a:ext cx="822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0A13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endParaRPr lang="en-US" sz="2600" dirty="0"/>
          </a:p>
        </p:txBody>
      </p:sp>
      <p:sp>
        <p:nvSpPr>
          <p:cNvPr id="18" name="Text 16"/>
          <p:cNvSpPr txBox="1"/>
          <p:nvPr/>
        </p:nvSpPr>
        <p:spPr>
          <a:xfrm>
            <a:off x="7680960" y="461772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6E9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кода возврата при нарушении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7680960" y="4901184"/>
            <a:ext cx="3474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8D97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молча собранный неверный файл — худший исход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685800" y="3968496"/>
            <a:ext cx="5577840" cy="1481328"/>
          </a:xfrm>
          <a:prstGeom prst="roundRect">
            <a:avLst>
              <a:gd name="adj" fmla="val 5556"/>
            </a:avLst>
          </a:prstGeom>
          <a:solidFill>
            <a:srgbClr val="1E1A16"/>
          </a:solidFill>
          <a:ln w="12700">
            <a:solidFill>
              <a:srgbClr val="2C333D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978408" y="4169664"/>
            <a:ext cx="274320" cy="274320"/>
          </a:xfrm>
          <a:prstGeom prst="ellipse">
            <a:avLst/>
          </a:prstGeom>
          <a:solidFill>
            <a:srgbClr val="E0622B"/>
          </a:solidFill>
          <a:ln w="12700">
            <a:solidFill>
              <a:srgbClr val="E0622B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1399032" y="4142232"/>
            <a:ext cx="4663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062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Модуль инференса не имеет доступа к сети</a:t>
            </a:r>
            <a:endParaRPr lang="en-US" sz="1500" dirty="0"/>
          </a:p>
        </p:txBody>
      </p:sp>
      <p:sp>
        <p:nvSpPr>
          <p:cNvPr id="23" name="Text 21"/>
          <p:cNvSpPr txBox="1"/>
          <p:nvPr/>
        </p:nvSpPr>
        <p:spPr>
          <a:xfrm>
            <a:off x="978408" y="4526280"/>
            <a:ext cx="5029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BFC7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Применение готовых продуктов обнаружения пожаров — основание для снятия с конкурса. Запрет обеспечен устройством модуля: он читает только каталог чипов и модель с диска.</a:t>
            </a:r>
            <a:endParaRPr lang="en-US" sz="1250" dirty="0"/>
          </a:p>
        </p:txBody>
      </p:sp>
      <p:sp>
        <p:nvSpPr>
          <p:cNvPr id="24" name="Text 22"/>
          <p:cNvSpPr txBox="1"/>
          <p:nvPr/>
        </p:nvSpPr>
        <p:spPr>
          <a:xfrm>
            <a:off x="685800" y="6291072"/>
            <a:ext cx="10789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A71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SPEC-16 · валидатор запускается отдельной командой и падает с ненулевым кодом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215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457200"/>
            <a:ext cx="107899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E6E9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Порог — точка отсчёта, а не соперник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1463040"/>
            <a:ext cx="10789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BFC7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Пороговый вариант публиковался до первого запуска обучения, чтобы сравнение нельзя было построить задним числом. Обе модели — градиентный бустинг по признакам пикселя; по гари деление идёт по пожарам, а не по чипам, иначе соседние фрагменты одного пожара попадут по разные стороны; по активному горению так не выйдет — признак события в разметке пуст, и это записано в ограничениях.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685800" y="2395728"/>
            <a:ext cx="10789920" cy="2331720"/>
          </a:xfrm>
          <a:prstGeom prst="roundRect">
            <a:avLst>
              <a:gd name="adj" fmla="val 3529"/>
            </a:avLst>
          </a:prstGeom>
          <a:solidFill>
            <a:srgbClr val="1A1F27"/>
          </a:solidFill>
          <a:ln w="12700">
            <a:solidFill>
              <a:srgbClr val="2C333D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005840" y="256032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8D97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Что измеряем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5257800" y="256032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8D97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Порог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7086600" y="256032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8D97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Модель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9006840" y="256032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8D97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Комментарий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1005840" y="2971800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6E9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Активное горение, F1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5257800" y="297180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8D97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0.599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7086600" y="297180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5BC8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0.884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9006840" y="2971800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D97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recall 0.47 → 0.94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1005840" y="3520440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6E9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Площадь гари, IoU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5257800" y="352044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8D97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0.390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7086600" y="352044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5BC8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0.399</a:t>
            </a:r>
            <a:endParaRPr lang="en-US" sz="1600" dirty="0"/>
          </a:p>
        </p:txBody>
      </p:sp>
      <p:sp>
        <p:nvSpPr>
          <p:cNvPr id="16" name="Text 14"/>
          <p:cNvSpPr txBox="1"/>
          <p:nvPr/>
        </p:nvSpPr>
        <p:spPr>
          <a:xfrm>
            <a:off x="9006840" y="3520440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D97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перевес в пределах шума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1005840" y="4069080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6E9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Степень поражения, mIoU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5257800" y="406908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8D97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0.155</a:t>
            </a:r>
            <a:endParaRPr lang="en-US" sz="1600" dirty="0"/>
          </a:p>
        </p:txBody>
      </p:sp>
      <p:sp>
        <p:nvSpPr>
          <p:cNvPr id="19" name="Text 17"/>
          <p:cNvSpPr txBox="1"/>
          <p:nvPr/>
        </p:nvSpPr>
        <p:spPr>
          <a:xfrm>
            <a:off x="7086600" y="406908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5BC8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0.392</a:t>
            </a:r>
            <a:endParaRPr lang="en-US" sz="1600" dirty="0"/>
          </a:p>
        </p:txBody>
      </p:sp>
      <p:sp>
        <p:nvSpPr>
          <p:cNvPr id="20" name="Text 18"/>
          <p:cNvSpPr txBox="1"/>
          <p:nvPr/>
        </p:nvSpPr>
        <p:spPr>
          <a:xfrm>
            <a:off x="9006840" y="4069080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D97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рост в 2.5 раза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1005840" y="4160520"/>
            <a:ext cx="10149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BFC7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Признаки пикселя, а не один порог на чип: индексы гари, тип покрова, уклон, высота, радар. Шкала степеней поражения из учебника выведена для хвойного леса — в степи она распознаёт класс втрое хуже обученной модели, хотя контур гари ловит не хуже.</a:t>
            </a:r>
            <a:endParaRPr lang="en-US" sz="1250" dirty="0"/>
          </a:p>
        </p:txBody>
      </p:sp>
      <p:sp>
        <p:nvSpPr>
          <p:cNvPr id="22" name="Shape 20"/>
          <p:cNvSpPr/>
          <p:nvPr/>
        </p:nvSpPr>
        <p:spPr>
          <a:xfrm>
            <a:off x="685800" y="4892040"/>
            <a:ext cx="10789920" cy="868680"/>
          </a:xfrm>
          <a:prstGeom prst="roundRect">
            <a:avLst>
              <a:gd name="adj" fmla="val 9474"/>
            </a:avLst>
          </a:prstGeom>
          <a:solidFill>
            <a:srgbClr val="1A1113"/>
          </a:solidFill>
          <a:ln w="12700">
            <a:solidFill>
              <a:srgbClr val="2C333D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005840" y="5102352"/>
            <a:ext cx="274320" cy="274320"/>
          </a:xfrm>
          <a:prstGeom prst="ellipse">
            <a:avLst/>
          </a:prstGeom>
          <a:solidFill>
            <a:srgbClr val="B3221F"/>
          </a:solidFill>
          <a:ln w="12700">
            <a:solidFill>
              <a:srgbClr val="B3221F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1417320" y="5029200"/>
            <a:ext cx="9692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b="1" dirty="0">
                <a:solidFill>
                  <a:srgbClr val="E6E9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Числа посчитаны на своей отложенной части и оценкой на закрытой выборке не являются. </a:t>
            </a:r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BFC7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Решающая граница и один гиперпараметр подобраны по валидационной части; отложенная тронута один раз, и запись об этом лежит на диске.</a:t>
            </a:r>
            <a:endParaRPr lang="en-US" sz="1250" dirty="0"/>
          </a:p>
        </p:txBody>
      </p:sp>
      <p:sp>
        <p:nvSpPr>
          <p:cNvPr id="25" name="Text 23"/>
          <p:cNvSpPr txBox="1"/>
          <p:nvPr/>
        </p:nvSpPr>
        <p:spPr>
          <a:xfrm>
            <a:off x="685800" y="6291072"/>
            <a:ext cx="10789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A71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SPEC-17, SPEC-18, SPEC-19 · 224 чипа гари, 420 чипов активного горения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215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457200"/>
            <a:ext cx="107899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E6E9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Чего сервис пока не доказывает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685800" y="1554480"/>
            <a:ext cx="3395472" cy="2286000"/>
          </a:xfrm>
          <a:prstGeom prst="roundRect">
            <a:avLst>
              <a:gd name="adj" fmla="val 3600"/>
            </a:avLst>
          </a:prstGeom>
          <a:solidFill>
            <a:srgbClr val="1A1F27"/>
          </a:solidFill>
          <a:ln w="12700">
            <a:solidFill>
              <a:srgbClr val="2C333D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60120" y="1755648"/>
            <a:ext cx="284683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600" b="1" dirty="0">
                <a:solidFill>
                  <a:srgbClr val="F0A1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Площадь не сверена с землёй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2487168"/>
            <a:ext cx="284683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BFC7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Проверка по термоточкам ловит грубое расхождение, но саму площадь не измеряет. Сверка с контрольными продуктами запланирована и не выполнена.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4383024" y="1554480"/>
            <a:ext cx="3395472" cy="2286000"/>
          </a:xfrm>
          <a:prstGeom prst="roundRect">
            <a:avLst>
              <a:gd name="adj" fmla="val 3600"/>
            </a:avLst>
          </a:prstGeom>
          <a:solidFill>
            <a:srgbClr val="1A1F27"/>
          </a:solidFill>
          <a:ln w="12700">
            <a:solidFill>
              <a:srgbClr val="2C333D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657344" y="1755648"/>
            <a:ext cx="284683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600" b="1" dirty="0">
                <a:solidFill>
                  <a:srgbClr val="F0A1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Пороги не откалиброваны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4657344" y="2487168"/>
            <a:ext cx="284683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BFC7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Шкала степени поражения получена на другой растительности. Для лиственничных и тёмнохвойных лесов Сибири она не валидирована.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8080248" y="1554480"/>
            <a:ext cx="3395472" cy="2286000"/>
          </a:xfrm>
          <a:prstGeom prst="roundRect">
            <a:avLst>
              <a:gd name="adj" fmla="val 3600"/>
            </a:avLst>
          </a:prstGeom>
          <a:solidFill>
            <a:srgbClr val="1A1F27"/>
          </a:solidFill>
          <a:ln w="12700">
            <a:solidFill>
              <a:srgbClr val="2C333D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354568" y="1755648"/>
            <a:ext cx="284683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600" b="1" dirty="0">
                <a:solidFill>
                  <a:srgbClr val="F0A1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Машинное обучение не применяется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8354568" y="2487168"/>
            <a:ext cx="284683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BFC7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Весь сервис пороговый: ни одна из 34 констант не подобрана по данным. Обучение на архивах описано спецификациями, но не начато.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685800" y="4069080"/>
            <a:ext cx="10789920" cy="1371600"/>
          </a:xfrm>
          <a:prstGeom prst="roundRect">
            <a:avLst>
              <a:gd name="adj" fmla="val 6000"/>
            </a:avLst>
          </a:prstGeom>
          <a:solidFill>
            <a:srgbClr val="16221D"/>
          </a:solidFill>
          <a:ln w="12700">
            <a:solidFill>
              <a:srgbClr val="2C333D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005840" y="4315968"/>
            <a:ext cx="292608" cy="292608"/>
          </a:xfrm>
          <a:prstGeom prst="ellipse">
            <a:avLst/>
          </a:prstGeom>
          <a:solidFill>
            <a:srgbClr val="5BC8AF"/>
          </a:solidFill>
          <a:ln w="12700">
            <a:solidFill>
              <a:srgbClr val="5BC8AF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1463040" y="4288536"/>
            <a:ext cx="9692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5BC8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Что дальше</a:t>
            </a:r>
            <a:endParaRPr lang="en-US" sz="1700" dirty="0"/>
          </a:p>
        </p:txBody>
      </p:sp>
      <p:sp>
        <p:nvSpPr>
          <p:cNvPr id="15" name="Text 13"/>
          <p:cNvSpPr txBox="1"/>
          <p:nvPr/>
        </p:nvSpPr>
        <p:spPr>
          <a:xfrm>
            <a:off x="1005840" y="4681728"/>
            <a:ext cx="10149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400" dirty="0">
                <a:solidFill>
                  <a:srgbClr val="BFC7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Многолетний архив спутниковых детекций как обучающая выборка, контрольные продукты гарей в роли разметки, дообучение сегментации и честное сравнение с нынешним пороговым методом. Отрицательный исход заранее объявлен допустимым результатом.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685800" y="6291072"/>
            <a:ext cx="10789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A71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Ограничения записаны в 26 файлах доказательств, а не вынесены за скобки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1215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595360" y="-1097280"/>
            <a:ext cx="5852160" cy="5852160"/>
          </a:xfrm>
          <a:prstGeom prst="ellipse">
            <a:avLst/>
          </a:prstGeom>
          <a:solidFill>
            <a:srgbClr val="16221D"/>
          </a:solidFill>
          <a:ln w="12700">
            <a:solidFill>
              <a:srgbClr val="16221D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685800" y="1005840"/>
            <a:ext cx="8229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E6E9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Исходный код открыт</a:t>
            </a:r>
            <a:endParaRPr lang="en-US" sz="4000" dirty="0"/>
          </a:p>
        </p:txBody>
      </p:sp>
      <p:sp>
        <p:nvSpPr>
          <p:cNvPr id="4" name="Shape 2"/>
          <p:cNvSpPr/>
          <p:nvPr/>
        </p:nvSpPr>
        <p:spPr>
          <a:xfrm>
            <a:off x="685800" y="2148840"/>
            <a:ext cx="5120640" cy="731520"/>
          </a:xfrm>
          <a:prstGeom prst="roundRect">
            <a:avLst>
              <a:gd name="adj" fmla="val 12500"/>
            </a:avLst>
          </a:prstGeom>
          <a:solidFill>
            <a:srgbClr val="F0A132"/>
          </a:solidFill>
          <a:ln w="12700">
            <a:solidFill>
              <a:srgbClr val="F0A132"/>
            </a:solidFill>
            <a:prstDash val="solid"/>
          </a:ln>
        </p:spPr>
      </p:sp>
      <p:sp>
        <p:nvSpPr>
          <p:cNvPr id="5" name="Text 3">
            <a:hlinkClick r:id="rId1" tooltip=""/>
          </p:cNvPr>
          <p:cNvSpPr txBox="1"/>
          <p:nvPr/>
        </p:nvSpPr>
        <p:spPr>
          <a:xfrm>
            <a:off x="685800" y="2148840"/>
            <a:ext cx="5120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u="sng" dirty="0">
                <a:solidFill>
                  <a:srgbClr val="1215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github.com/voloshko/fires</a:t>
            </a:r>
            <a:endParaRPr lang="en-US" sz="1900" dirty="0"/>
          </a:p>
        </p:txBody>
      </p:sp>
      <p:sp>
        <p:nvSpPr>
          <p:cNvPr id="6" name="Text 4"/>
          <p:cNvSpPr txBox="1"/>
          <p:nvPr/>
        </p:nvSpPr>
        <p:spPr>
          <a:xfrm>
            <a:off x="685800" y="3017520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D97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спецификации, тесты, доказательства прогонов и кеш данных — всё в репозитории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685800" y="3703320"/>
            <a:ext cx="3395472" cy="1371600"/>
          </a:xfrm>
          <a:prstGeom prst="roundRect">
            <a:avLst>
              <a:gd name="adj" fmla="val 6000"/>
            </a:avLst>
          </a:prstGeom>
          <a:solidFill>
            <a:srgbClr val="1A1F27"/>
          </a:solidFill>
          <a:ln w="12700">
            <a:solidFill>
              <a:srgbClr val="2C333D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60120" y="3886200"/>
            <a:ext cx="284683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5BC8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make serve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960120" y="4251960"/>
            <a:ext cx="28468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BFC7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карта за 8 секунд, ключи не нужны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383024" y="3703320"/>
            <a:ext cx="3395472" cy="1371600"/>
          </a:xfrm>
          <a:prstGeom prst="roundRect">
            <a:avLst>
              <a:gd name="adj" fmla="val 6000"/>
            </a:avLst>
          </a:prstGeom>
          <a:solidFill>
            <a:srgbClr val="1A1F27"/>
          </a:solidFill>
          <a:ln w="12700">
            <a:solidFill>
              <a:srgbClr val="2C333D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657344" y="3886200"/>
            <a:ext cx="284683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5BC8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make gate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4657344" y="4251960"/>
            <a:ext cx="28468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BFC7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проверка прослеживаемости и доказательств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8080248" y="3703320"/>
            <a:ext cx="3395472" cy="1371600"/>
          </a:xfrm>
          <a:prstGeom prst="roundRect">
            <a:avLst>
              <a:gd name="adj" fmla="val 6000"/>
            </a:avLst>
          </a:prstGeom>
          <a:solidFill>
            <a:srgbClr val="1A1F27"/>
          </a:solidFill>
          <a:ln w="12700">
            <a:solidFill>
              <a:srgbClr val="2C333D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8354568" y="3886200"/>
            <a:ext cx="284683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5BC8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data/demo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8354568" y="4251960"/>
            <a:ext cx="28468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BFC7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933 354 детекции в 14 мегабайтах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685800" y="6291072"/>
            <a:ext cx="10789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A71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Красноярский край · 20.07–18.09.2026 · лицензии данных указаны в репозитории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Оперативный мониторинг лесных пожаров</dc:title>
  <dc:subject>PptxGenJS Presentation</dc:subject>
  <dc:creator>fires</dc:creator>
  <cp:lastModifiedBy>fires</cp:lastModifiedBy>
  <cp:revision>1</cp:revision>
  <dcterms:created xsi:type="dcterms:W3CDTF">2026-09-18T16:27:18Z</dcterms:created>
  <dcterms:modified xsi:type="dcterms:W3CDTF">2026-09-18T16:27:18Z</dcterms:modified>
</cp:coreProperties>
</file>